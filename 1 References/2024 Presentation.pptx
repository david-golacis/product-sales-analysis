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0" r:id="rId4"/>
    <p:sldId id="258" r:id="rId5"/>
    <p:sldId id="261" r:id="rId6"/>
    <p:sldId id="263" r:id="rId7"/>
    <p:sldId id="265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78EB2E-9EDC-4536-9AF5-4E5AB17A345B}">
          <p14:sldIdLst>
            <p14:sldId id="256"/>
            <p14:sldId id="259"/>
            <p14:sldId id="260"/>
            <p14:sldId id="258"/>
            <p14:sldId id="261"/>
            <p14:sldId id="263"/>
            <p14:sldId id="265"/>
            <p14:sldId id="264"/>
            <p14:sldId id="266"/>
            <p14:sldId id="267"/>
            <p14:sldId id="268"/>
            <p14:sldId id="269"/>
            <p14:sldId id="270"/>
            <p14:sldId id="271"/>
            <p14:sldId id="272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51553" autoAdjust="0"/>
  </p:normalViewPr>
  <p:slideViewPr>
    <p:cSldViewPr snapToGrid="0">
      <p:cViewPr varScale="1">
        <p:scale>
          <a:sx n="44" d="100"/>
          <a:sy n="44" d="100"/>
        </p:scale>
        <p:origin x="2334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E92A08-3F37-47EC-AFB1-C3BC61A2965D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C352BA-3BA7-4EB3-B89E-BFABC949B9C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018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Hello!</a:t>
            </a:r>
          </a:p>
          <a:p>
            <a:endParaRPr lang="en-GB" dirty="0"/>
          </a:p>
          <a:p>
            <a:r>
              <a:rPr lang="en-GB" dirty="0"/>
              <a:t>My name is David and today I’ll be showing you my exploratory analysis of a new products sale for Pens and Printers</a:t>
            </a:r>
          </a:p>
          <a:p>
            <a:endParaRPr lang="en-GB" dirty="0"/>
          </a:p>
          <a:p>
            <a:r>
              <a:rPr lang="en-GB" dirty="0"/>
              <a:t>The data was kindly provided by the company from their initial 6-week sale (Click)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352BA-3BA7-4EB3-B89E-BFABC949B9C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968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will be a short 10-minute presentation, focusing on just the performance of the different sales methods</a:t>
            </a:r>
          </a:p>
          <a:p>
            <a:endParaRPr lang="en-GB" dirty="0"/>
          </a:p>
          <a:p>
            <a:r>
              <a:rPr lang="en-GB" dirty="0"/>
              <a:t>I’ll provide a brief overview of the data cleaning procedure, narrative, and closing thoughts for the business</a:t>
            </a:r>
          </a:p>
          <a:p>
            <a:endParaRPr lang="en-GB" dirty="0"/>
          </a:p>
          <a:p>
            <a:r>
              <a:rPr lang="en-GB" dirty="0"/>
              <a:t>The full details will be provided in the accompanying written report (Click)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352BA-3BA7-4EB3-B89E-BFABC949B9C1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2864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So, where do we start? (Click)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352BA-3BA7-4EB3-B89E-BFABC949B9C1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468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this analysis, I wanted to compare the performance of the different strategies used throughout the 6-week period (Click)</a:t>
            </a:r>
          </a:p>
          <a:p>
            <a:endParaRPr lang="en-GB" dirty="0"/>
          </a:p>
          <a:p>
            <a:r>
              <a:rPr lang="en-GB" dirty="0"/>
              <a:t>Which I did by deriving insight into which methods customers responded to the most,</a:t>
            </a:r>
          </a:p>
          <a:p>
            <a:endParaRPr lang="en-GB" dirty="0"/>
          </a:p>
          <a:p>
            <a:r>
              <a:rPr lang="en-GB" dirty="0"/>
              <a:t>Which strategy saw the most growth from week to week,</a:t>
            </a:r>
          </a:p>
          <a:p>
            <a:endParaRPr lang="en-GB" dirty="0"/>
          </a:p>
          <a:p>
            <a:r>
              <a:rPr lang="en-GB" dirty="0"/>
              <a:t>And which approach produced the most revenue for the business. (Click)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352BA-3BA7-4EB3-B89E-BFABC949B9C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1505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So, how dirty was the provided data? (Click)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352BA-3BA7-4EB3-B89E-BFABC949B9C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290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(Click) First off, I imported the product_sales.csv into Python, where I cleaned, transformed, and analysed the dataset (Click)</a:t>
            </a:r>
          </a:p>
          <a:p>
            <a:endParaRPr lang="en-GB" dirty="0"/>
          </a:p>
          <a:p>
            <a:r>
              <a:rPr lang="en-GB" dirty="0"/>
              <a:t>The table was granular, with 7 feature columns and a total of 15 thousand observations (Click)</a:t>
            </a:r>
          </a:p>
          <a:p>
            <a:endParaRPr lang="en-GB" dirty="0"/>
          </a:p>
          <a:p>
            <a:r>
              <a:rPr lang="en-GB" dirty="0"/>
              <a:t>Of which, roughly 7% of revenues were missing. I decided to keep these rows in by replacing them the average of ordered categorical groups, as I found in testing that the week number and number of units sold made for good looking values. They produced lower STDs than when I substituted with the overall mean of the sample population (Click)</a:t>
            </a:r>
          </a:p>
          <a:p>
            <a:endParaRPr lang="en-GB" dirty="0"/>
          </a:p>
          <a:p>
            <a:r>
              <a:rPr lang="en-GB" dirty="0"/>
              <a:t>Next, I identified 5 unique entries in the sales method column, 2 were unexpected. There must’ve been some oversights in the spelling of these entries, which needed to be amended (Click)</a:t>
            </a:r>
          </a:p>
          <a:p>
            <a:endParaRPr lang="en-GB" dirty="0"/>
          </a:p>
          <a:p>
            <a:r>
              <a:rPr lang="en-GB" dirty="0"/>
              <a:t>Finally, I found that 2 customers had been with Pens and Printers for longer than the company had existed! I altered these to be the max valid age as I couldn’t infer their true values (Click)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352BA-3BA7-4EB3-B89E-BFABC949B9C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92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Once the cleaning was done, I began my analysis (Click)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352BA-3BA7-4EB3-B89E-BFABC949B9C1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9063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(Click) As you can see, the majority of sales came from the email-only approach. Approximately, 50% (Click)</a:t>
            </a:r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In turn, the email method also returned the highest total revenue of the 3 methods tested (Click)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352BA-3BA7-4EB3-B89E-BFABC949B9C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026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Next, I wanted to see where the revenues fell on linear scale., which I achieved using a histogram.</a:t>
            </a:r>
          </a:p>
          <a:p>
            <a:endParaRPr lang="en-GB" dirty="0"/>
          </a:p>
          <a:p>
            <a:r>
              <a:rPr lang="en-GB" dirty="0"/>
              <a:t>I saw that there were a lot of big and small orders, but which were the most popular price points? (Click)</a:t>
            </a:r>
          </a:p>
          <a:p>
            <a:endParaRPr lang="en-GB" dirty="0"/>
          </a:p>
          <a:p>
            <a:r>
              <a:rPr lang="en-GB" dirty="0"/>
              <a:t>As you can see, the data was not normally distributed (Click)</a:t>
            </a:r>
          </a:p>
          <a:p>
            <a:endParaRPr lang="en-GB" dirty="0"/>
          </a:p>
          <a:p>
            <a:r>
              <a:rPr lang="en-GB" dirty="0"/>
              <a:t>It was skewed to the right (Click)</a:t>
            </a:r>
          </a:p>
          <a:p>
            <a:endParaRPr lang="en-GB" dirty="0"/>
          </a:p>
          <a:p>
            <a:r>
              <a:rPr lang="en-GB" dirty="0"/>
              <a:t>Where, the KDE line shows that there were 5 brackets (5 humps) that customers opted for, with the most popular spend being somewhere around the 100 mark (Click)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352BA-3BA7-4EB3-B89E-BFABC949B9C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69391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 then further broke down the distribution by sales method, using boxplots (Click)</a:t>
            </a:r>
          </a:p>
          <a:p>
            <a:endParaRPr lang="en-GB" dirty="0"/>
          </a:p>
          <a:p>
            <a:r>
              <a:rPr lang="en-GB" dirty="0"/>
              <a:t>Where you can see that the combination method encompassed the greatest range of the strategies tested (Click x2)</a:t>
            </a:r>
          </a:p>
          <a:p>
            <a:endParaRPr lang="en-GB" dirty="0"/>
          </a:p>
          <a:p>
            <a:r>
              <a:rPr lang="en-GB" dirty="0"/>
              <a:t>But the email + call method also delivered the highest average revenue per order, shown by the black pluses inside the IQR (boxes) (Click x2)</a:t>
            </a:r>
          </a:p>
          <a:p>
            <a:endParaRPr lang="en-GB" dirty="0"/>
          </a:p>
          <a:p>
            <a:r>
              <a:rPr lang="en-GB" dirty="0"/>
              <a:t>I also added notches to the boxplots to see if they were statistically similar. Which they weren’t, meaning that the results obtained from each approach were independent from one another (Click)</a:t>
            </a:r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By grouping, I also minimized the skew that we saw earlier in the histogram. Producing mean and median values that were similar, and more representative of their features (Click)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352BA-3BA7-4EB3-B89E-BFABC949B9C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58234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Next, I wanted to see what changes occurred going from week to week (Click)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352BA-3BA7-4EB3-B89E-BFABC949B9C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1126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Where, all three methods increased from week 1 to 6 (Click)</a:t>
            </a:r>
          </a:p>
          <a:p>
            <a:endParaRPr lang="en-GB" dirty="0"/>
          </a:p>
          <a:p>
            <a:r>
              <a:rPr lang="en-GB" dirty="0"/>
              <a:t>With the combination method experiencing the greatest absolute difference between its initial and final value (Click)</a:t>
            </a:r>
          </a:p>
          <a:p>
            <a:endParaRPr lang="en-GB" dirty="0"/>
          </a:p>
          <a:p>
            <a:r>
              <a:rPr lang="en-GB" dirty="0"/>
              <a:t>Although the call method’s line appears relatively flat, it did show the most growth by percentage (Click)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352BA-3BA7-4EB3-B89E-BFABC949B9C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335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Following these findings, I felt confident that I could make recommendations to Pens and Printers about their sales approaches, from this sales period</a:t>
            </a:r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Let’s start by introducing two business metrics (Click)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352BA-3BA7-4EB3-B89E-BFABC949B9C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35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Like the previous figure, I feel that it would be beneficial to track the weekly average revenue of orders. (Click)</a:t>
            </a:r>
          </a:p>
          <a:p>
            <a:endParaRPr lang="en-GB" dirty="0"/>
          </a:p>
          <a:p>
            <a:r>
              <a:rPr lang="en-GB" dirty="0"/>
              <a:t>As it would provide insight into the efficiency of number of units sold and time spent on customers (Click)</a:t>
            </a:r>
          </a:p>
          <a:p>
            <a:endParaRPr lang="en-GB" dirty="0"/>
          </a:p>
          <a:p>
            <a:r>
              <a:rPr lang="en-GB" dirty="0"/>
              <a:t>Currently, the target measure to beat is roughly 153 revenue per order (Click)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352BA-3BA7-4EB3-B89E-BFABC949B9C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877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(Click) The 2</a:t>
            </a:r>
            <a:r>
              <a:rPr lang="en-GB" baseline="30000" dirty="0"/>
              <a:t>nd</a:t>
            </a:r>
            <a:r>
              <a:rPr lang="en-GB" dirty="0"/>
              <a:t> business metric to track would be the weekly revenue generated by the new product line (Click)</a:t>
            </a:r>
          </a:p>
          <a:p>
            <a:endParaRPr lang="en-GB" dirty="0"/>
          </a:p>
          <a:p>
            <a:r>
              <a:rPr lang="en-GB" dirty="0"/>
              <a:t>Which, at the present, stands at approximately 190,000 revenue per week (Click)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352BA-3BA7-4EB3-B89E-BFABC949B9C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632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close this presentation out, my recommendations to the business are to: </a:t>
            </a:r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(Click x6)</a:t>
            </a:r>
          </a:p>
          <a:p>
            <a:endParaRPr lang="en-GB" dirty="0"/>
          </a:p>
          <a:p>
            <a:r>
              <a:rPr lang="en-GB" dirty="0"/>
              <a:t>I hope you found this presentation insightful and gained a better understanding of the story each sales method told. A full written report has also been produced, delving deeper into each consideration taken.</a:t>
            </a:r>
          </a:p>
          <a:p>
            <a:endParaRPr lang="en-GB" dirty="0"/>
          </a:p>
          <a:p>
            <a:r>
              <a:rPr lang="en-GB" dirty="0"/>
              <a:t>Have a blessed day (Click)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C352BA-3BA7-4EB3-B89E-BFABC949B9C1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413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F4B4D-9304-867F-01EA-85E23608A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09A177-4B6A-4E2A-0CF4-F35ECBF0E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180DB-B68E-2470-D84B-E7C5A1DAE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2D76-126F-4013-B54B-4730F7F23821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C3B55-FB8F-3EC3-CD77-782A7D821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4F06F-B343-1DA9-3E2C-809A6B43B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8A24-02DB-4671-817E-63751B2F00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293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D48F0-AA20-0830-1299-4B06AA1A6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E21EF-528C-7ABC-662D-9E446702E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2FFBF-BA4C-43E5-412A-69EE36EEC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2D76-126F-4013-B54B-4730F7F23821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CE191-4FE9-EAB5-9FB3-1BA18BB9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35E01-DBDC-E3F2-08C0-4C2C29F0E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8A24-02DB-4671-817E-63751B2F00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379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8F292-CC79-49C3-0D67-C7B73B28D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CAA55-8A87-B6EA-8B95-A272D7610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EDD84-FB37-9C35-EC45-8A7E0D33C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2D76-126F-4013-B54B-4730F7F23821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284BD-AF7A-4978-881C-86CC08897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579C0-4C2C-68A1-D861-9437D0EB0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8A24-02DB-4671-817E-63751B2F00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490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25C84-F2E5-84B8-28BA-301712B60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11BA2-E41B-40A4-80E5-C99D51B69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B12B6-2247-2716-E23C-16C85C0C8D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49352-8C68-E9CE-DBB7-6121189D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2D76-126F-4013-B54B-4730F7F23821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7524B-CB03-7CC2-D6D7-58D0399C7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75FEB-31A8-6647-681A-50C8B3A61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8A24-02DB-4671-817E-63751B2F00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604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A0E2E-10DE-2233-1822-D0D14936E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8E987-7694-F1DC-56D3-4D735EC14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37484-6F66-6D84-99EE-71D7E91CC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162A9F-A990-82A7-3B97-61D7232331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51B471-2849-E572-44F4-B485B5F732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8B40EA-2B0C-477B-E8A2-A002CF906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2D76-126F-4013-B54B-4730F7F23821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1D6E91-2F5C-EED1-A588-683B12F5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B3B0D-ABE1-B63E-AECD-2BAC86611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8A24-02DB-4671-817E-63751B2F00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916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345F-D537-62CF-CE17-CE263CC4F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CBC129-8C56-D54B-FC0D-E6C0A2D9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2D76-126F-4013-B54B-4730F7F23821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C6548-CB26-19B1-CB31-D43FBE849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10344E-6E9E-425C-9948-DFD8186DA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8A24-02DB-4671-817E-63751B2F00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94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2D24C2-A5F5-7DDF-8CE5-1CE0C7F69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2D76-126F-4013-B54B-4730F7F23821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CAE3A-B62E-CDAD-526F-4C9CDB858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6CC0E1-7BFD-F4FE-6DBD-CD26E39A3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8A24-02DB-4671-817E-63751B2F00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116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32026-4FEE-CBEB-3918-B492D30B1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DBEE2-B52F-7B0A-7415-E1FB00A8D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6F622-B7F3-3257-3A7B-A88012A2D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3E321-C1DD-E305-3BF6-949E483D4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2D76-126F-4013-B54B-4730F7F23821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74FDA-9E08-E993-FACF-B636A4DF1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C0AE3E-1E2E-4E34-EAA3-EA972322B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8A24-02DB-4671-817E-63751B2F00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533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C0B2F-182F-2DC4-1F29-56B0FCF58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729EBA-8CE2-57B9-F538-1D7C06E3B2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53688B-800E-5A47-83A8-646209D6F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899B48-E313-AFD9-27B7-37BBDF0C6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2D76-126F-4013-B54B-4730F7F23821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B3D4F6-69A2-A73E-A959-15E9B144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96467-645B-334D-7659-F335B6C7D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8A24-02DB-4671-817E-63751B2F00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597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41784-7DAB-CA91-5266-4B793C2D7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042325-A7E6-48A3-D133-E0DDD859B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60C34-C7D3-525F-7159-1CBE2EB49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2D76-126F-4013-B54B-4730F7F23821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D19A4-A725-DD9E-93CC-F8C710BCA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D07FD-D62A-DE96-22D9-1CD7F1654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8A24-02DB-4671-817E-63751B2F00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551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D50D98-595E-CB75-2BE4-1A4139E0E1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DB048D-3D8D-38B4-D578-44F42FC30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12752-F503-62E0-6520-D227D33DB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2D76-126F-4013-B54B-4730F7F23821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7EF7-E088-2ED6-B7CF-F47C64221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D6D26-EA7D-2880-6449-02030870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88A24-02DB-4671-817E-63751B2F00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0808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B632DB-BD6A-6E8E-A8A6-5C925D605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9D284-B9B0-C2BA-864B-92ABE017B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3D780-F401-669A-0AAF-B4FD0042FF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642D76-126F-4013-B54B-4730F7F23821}" type="datetimeFigureOut">
              <a:rPr lang="en-GB" smtClean="0"/>
              <a:t>19/08/2024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FB1D7-4BE5-535C-72DD-5EF7E913F2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DD15F-9B22-B7C8-AC5D-6DBCEC764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B88A24-02DB-4671-817E-63751B2F00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9122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F3E0A-230C-26DE-501E-1C3D655023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Analysis of Different Sales Methods for Pens and Printers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9D10F6-7C80-B80D-7420-2722CEAAC2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Presented by</a:t>
            </a:r>
            <a:r>
              <a:rPr lang="en-GB" dirty="0"/>
              <a:t>: David Golacis</a:t>
            </a:r>
          </a:p>
          <a:p>
            <a:r>
              <a:rPr lang="en-GB" b="1" dirty="0"/>
              <a:t>Last Updated</a:t>
            </a:r>
            <a:r>
              <a:rPr lang="en-GB" dirty="0"/>
              <a:t>: 18</a:t>
            </a:r>
            <a:r>
              <a:rPr lang="en-GB" baseline="30000" dirty="0"/>
              <a:t>th</a:t>
            </a:r>
            <a:r>
              <a:rPr lang="en-GB" dirty="0"/>
              <a:t> August 2024</a:t>
            </a:r>
          </a:p>
        </p:txBody>
      </p:sp>
    </p:spTree>
    <p:extLst>
      <p:ext uri="{BB962C8B-B14F-4D97-AF65-F5344CB8AC3E}">
        <p14:creationId xmlns:p14="http://schemas.microsoft.com/office/powerpoint/2010/main" val="43857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D5FED-17A5-25E3-91DC-1217A6FA9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Table of Contents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018A4F-8EF6-6C87-0CC7-BF5376083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Purpose Statement</a:t>
            </a:r>
          </a:p>
          <a:p>
            <a:r>
              <a:rPr lang="en-GB" dirty="0"/>
              <a:t>Data Cleaning</a:t>
            </a:r>
          </a:p>
          <a:p>
            <a:r>
              <a:rPr lang="en-GB" dirty="0"/>
              <a:t>Narrative Story</a:t>
            </a:r>
          </a:p>
          <a:p>
            <a:r>
              <a:rPr lang="en-GB" dirty="0"/>
              <a:t>Conclusion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8954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1B97-7320-6179-3C1A-11C268C3D2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What are we talking about?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801CBA3-5771-51F0-6E5C-8BA1BB7C78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9094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CB78F-D68D-4331-B071-3A455A31D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742A9-AA71-9D98-7F0C-8CD003917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To investigate the effectiveness of targeted </a:t>
            </a:r>
            <a:r>
              <a:rPr lang="en-GB" dirty="0">
                <a:solidFill>
                  <a:srgbClr val="7030A0"/>
                </a:solidFill>
              </a:rPr>
              <a:t>calls</a:t>
            </a:r>
            <a:r>
              <a:rPr lang="en-GB" dirty="0"/>
              <a:t>, </a:t>
            </a:r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emails</a:t>
            </a:r>
            <a:r>
              <a:rPr lang="en-GB" dirty="0"/>
              <a:t>, and a combination of the two (</a:t>
            </a:r>
            <a:r>
              <a:rPr lang="en-GB" dirty="0">
                <a:solidFill>
                  <a:schemeClr val="accent1"/>
                </a:solidFill>
              </a:rPr>
              <a:t>email &amp; call</a:t>
            </a:r>
            <a:r>
              <a:rPr lang="en-GB" dirty="0"/>
              <a:t>) sales strategies prior to the launch of a new product line.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7102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E0AD9-4196-2F1A-51C8-3AED76EA8E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How was the data processed?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8316137-6A75-114A-A768-11761B79D5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077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82337-2B43-2110-4E92-42A4A89F9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Data Cleaning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F0C83-ACBE-4DF6-EAC5-EA518AACF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3071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Product sales dataset was imported into Python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2F7E687-33E2-10E5-183D-EF41203A8DF1}"/>
              </a:ext>
            </a:extLst>
          </p:cNvPr>
          <p:cNvSpPr txBox="1">
            <a:spLocks/>
          </p:cNvSpPr>
          <p:nvPr/>
        </p:nvSpPr>
        <p:spPr>
          <a:xfrm>
            <a:off x="838201" y="2423499"/>
            <a:ext cx="10515600" cy="530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Inside was 15,000 rows and 8 columns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23A50C-52C7-4A9A-F720-D6650F61E428}"/>
              </a:ext>
            </a:extLst>
          </p:cNvPr>
          <p:cNvSpPr txBox="1">
            <a:spLocks/>
          </p:cNvSpPr>
          <p:nvPr/>
        </p:nvSpPr>
        <p:spPr>
          <a:xfrm>
            <a:off x="838202" y="2974481"/>
            <a:ext cx="10515600" cy="530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Under the revenue column, there were </a:t>
            </a:r>
            <a:r>
              <a:rPr lang="en-GB" b="1" dirty="0"/>
              <a:t>1074</a:t>
            </a:r>
            <a:r>
              <a:rPr lang="en-GB" dirty="0"/>
              <a:t> </a:t>
            </a:r>
            <a:r>
              <a:rPr lang="en-GB" b="1" dirty="0"/>
              <a:t>missing values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FD17ED1-7916-7696-3F37-975235F69501}"/>
              </a:ext>
            </a:extLst>
          </p:cNvPr>
          <p:cNvSpPr txBox="1">
            <a:spLocks/>
          </p:cNvSpPr>
          <p:nvPr/>
        </p:nvSpPr>
        <p:spPr>
          <a:xfrm>
            <a:off x="838203" y="3572355"/>
            <a:ext cx="10515600" cy="7886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There were 5 unique entries within the sales method column, 2 of which were unexpected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545F0F5-0393-CBD6-0687-AB13F10D9DA2}"/>
              </a:ext>
            </a:extLst>
          </p:cNvPr>
          <p:cNvSpPr txBox="1">
            <a:spLocks/>
          </p:cNvSpPr>
          <p:nvPr/>
        </p:nvSpPr>
        <p:spPr>
          <a:xfrm>
            <a:off x="838203" y="4510200"/>
            <a:ext cx="10515600" cy="5307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On record, 2 customers were with the company before it had formed</a:t>
            </a:r>
          </a:p>
        </p:txBody>
      </p:sp>
    </p:spTree>
    <p:extLst>
      <p:ext uri="{BB962C8B-B14F-4D97-AF65-F5344CB8AC3E}">
        <p14:creationId xmlns:p14="http://schemas.microsoft.com/office/powerpoint/2010/main" val="403822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F6D-7B1A-BC36-2B27-056A2019B5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Descriptive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358E02-4EA5-93DA-E4C0-BC27F8EFC6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2801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AC31-F7E4-2C76-216D-92EB8A9FA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684712" cy="1600200"/>
          </a:xfrm>
        </p:spPr>
        <p:txBody>
          <a:bodyPr/>
          <a:lstStyle/>
          <a:p>
            <a:r>
              <a:rPr lang="en-GB" b="1" dirty="0"/>
              <a:t>Overview of Sales Method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D1D612F-49DC-06FA-52AF-6D5CB61FCA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8429" y="1026218"/>
            <a:ext cx="4521717" cy="4796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C1C205C-C4B5-704F-26A2-2FB6C50B31A5}"/>
              </a:ext>
            </a:extLst>
          </p:cNvPr>
          <p:cNvSpPr txBox="1">
            <a:spLocks/>
          </p:cNvSpPr>
          <p:nvPr/>
        </p:nvSpPr>
        <p:spPr>
          <a:xfrm>
            <a:off x="839790" y="2162908"/>
            <a:ext cx="4521716" cy="756139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Emails were the modal approach to generating revenue, accounting for almost 50% of the 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FF9ADBD-6DB9-E432-F960-699ABC091B2D}"/>
              </a:ext>
            </a:extLst>
          </p:cNvPr>
          <p:cNvSpPr txBox="1">
            <a:spLocks/>
          </p:cNvSpPr>
          <p:nvPr/>
        </p:nvSpPr>
        <p:spPr>
          <a:xfrm>
            <a:off x="839791" y="3042135"/>
            <a:ext cx="4521716" cy="392726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Emails produced the highest sum of revenue</a:t>
            </a:r>
          </a:p>
        </p:txBody>
      </p:sp>
    </p:spTree>
    <p:extLst>
      <p:ext uri="{BB962C8B-B14F-4D97-AF65-F5344CB8AC3E}">
        <p14:creationId xmlns:p14="http://schemas.microsoft.com/office/powerpoint/2010/main" val="72144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AD316-81DE-F3E4-1106-9B5AFCB9E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84662" cy="1600200"/>
          </a:xfrm>
        </p:spPr>
        <p:txBody>
          <a:bodyPr/>
          <a:lstStyle/>
          <a:p>
            <a:r>
              <a:rPr lang="en-GB" b="1" dirty="0"/>
              <a:t>Distribution of Revenue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B5B03-BBB2-633F-E77C-6FBD062B0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15662"/>
            <a:ext cx="4094162" cy="69166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Revenue was not symmetrical, as it did not follow a normal distribution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43E3117-2CDB-9988-96EE-CE78F856C19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8993" y="1023932"/>
            <a:ext cx="4640589" cy="4800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1DAB143-8F13-8F1F-AD52-A63681A12E2B}"/>
              </a:ext>
            </a:extLst>
          </p:cNvPr>
          <p:cNvSpPr txBox="1">
            <a:spLocks/>
          </p:cNvSpPr>
          <p:nvPr/>
        </p:nvSpPr>
        <p:spPr>
          <a:xfrm>
            <a:off x="839789" y="2848705"/>
            <a:ext cx="4094162" cy="691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data was skewed to the right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4584EEE-D74B-C77C-4647-1978886EDE29}"/>
              </a:ext>
            </a:extLst>
          </p:cNvPr>
          <p:cNvSpPr txBox="1">
            <a:spLocks/>
          </p:cNvSpPr>
          <p:nvPr/>
        </p:nvSpPr>
        <p:spPr>
          <a:xfrm>
            <a:off x="839790" y="3364518"/>
            <a:ext cx="4094162" cy="6916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Evidence of 5 tiers of payment, with the modal order of around 100</a:t>
            </a:r>
          </a:p>
        </p:txBody>
      </p:sp>
    </p:spTree>
    <p:extLst>
      <p:ext uri="{BB962C8B-B14F-4D97-AF65-F5344CB8AC3E}">
        <p14:creationId xmlns:p14="http://schemas.microsoft.com/office/powerpoint/2010/main" val="190381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0E3D-D662-52A8-7696-E87AA7C9C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418012" cy="1600200"/>
          </a:xfrm>
        </p:spPr>
        <p:txBody>
          <a:bodyPr/>
          <a:lstStyle/>
          <a:p>
            <a:r>
              <a:rPr lang="en-GB" b="1" dirty="0"/>
              <a:t>Distribution of Revenue, by Sales Strategy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83B93-7D3F-8C3B-676B-B1F2ED579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70362" cy="3811588"/>
          </a:xfrm>
        </p:spPr>
        <p:txBody>
          <a:bodyPr/>
          <a:lstStyle/>
          <a:p>
            <a:r>
              <a:rPr lang="en-GB" dirty="0"/>
              <a:t>The combination method saw the most variability, with STD being: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2.61 times bigger than for emails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3.23 times larger than for calls</a:t>
            </a:r>
          </a:p>
          <a:p>
            <a:r>
              <a:rPr lang="en-GB" dirty="0"/>
              <a:t>Additionally, the combination method experienced the highest average revenue per order, showing means that were: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1.89 times greater than emails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3.79 times more appreciable than calls</a:t>
            </a:r>
          </a:p>
          <a:p>
            <a:r>
              <a:rPr lang="en-GB" dirty="0"/>
              <a:t>True medians for each strategy  were, statistically, different</a:t>
            </a:r>
          </a:p>
          <a:p>
            <a:r>
              <a:rPr lang="en-GB" dirty="0"/>
              <a:t>Data skew was minimized by grouping revenue by method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0AAC028-F67B-D54A-04E4-03F08600E9E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9839" y="1023932"/>
            <a:ext cx="4818898" cy="4800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09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C160B-6640-09CD-0AF3-ED483F3A88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Time-Series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FDB2D-87F7-B0A3-B5FC-13E9BED4ED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075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79719-3FC7-2FA2-C87C-37FBED1A3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478268" cy="1600200"/>
          </a:xfrm>
        </p:spPr>
        <p:txBody>
          <a:bodyPr/>
          <a:lstStyle/>
          <a:p>
            <a:r>
              <a:rPr lang="en-GB" b="1" dirty="0"/>
              <a:t>Performance of Methods over time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794A65-7DA5-C775-F89E-9DD05BD33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The absolute differences in sales methods were: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Combination: 103.38 (83.2%)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Emails: 39.58 (45.2%)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Calls: 31.61 (89.3%)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D9A451D-8B21-096D-52C7-D875A175846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452" y="1143000"/>
            <a:ext cx="5756067" cy="4681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35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0515C-4668-11CB-E049-EEEEA6D90A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3EF4E-04E5-26D5-0841-7F4B4B11C3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8801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F7793-F320-A76D-59E5-9629E7C9C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Business Metric #1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F9EE9-E2F9-A1FB-C703-A44A06053B5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Average revenue per sale</a:t>
            </a:r>
          </a:p>
          <a:p>
            <a:r>
              <a:rPr lang="en-GB" dirty="0"/>
              <a:t>Where, following the 6-week testing window, the target metric to beat was </a:t>
            </a:r>
            <a:r>
              <a:rPr lang="en-GB" b="1" dirty="0"/>
              <a:t>152.91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DBDB9C2-AFC7-3788-71AB-115CEB4D658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133" y="1023932"/>
            <a:ext cx="4686309" cy="4800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52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97E6-651D-DC22-34BF-13D0F8E44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Business Metric #2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D1012-A983-BDB1-EE78-B2E9466D1F9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GB" dirty="0"/>
              <a:t>Total revenue per week</a:t>
            </a:r>
          </a:p>
          <a:p>
            <a:r>
              <a:rPr lang="en-GB" dirty="0"/>
              <a:t>After the initial 6-week programme, the target metric to beat was </a:t>
            </a:r>
            <a:r>
              <a:rPr lang="en-GB" b="1" dirty="0"/>
              <a:t>187775.38</a:t>
            </a:r>
            <a:endParaRPr lang="en-GB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BBE2593-D748-8910-1F7F-427162CD2AC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711" y="1023932"/>
            <a:ext cx="4581153" cy="4800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9738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D550-E9D3-4C45-FF17-E54A0E87A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94553-6075-7018-EF1B-6BEF6AD6C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Reduce the number of cold calls</a:t>
            </a:r>
          </a:p>
          <a:p>
            <a:r>
              <a:rPr lang="en-GB" dirty="0"/>
              <a:t>Increase the number of email &amp; call method attempts</a:t>
            </a:r>
          </a:p>
          <a:p>
            <a:r>
              <a:rPr lang="en-GB" dirty="0"/>
              <a:t>Manage the performance of sales by tracking:</a:t>
            </a:r>
          </a:p>
          <a:p>
            <a:pPr lvl="1"/>
            <a:r>
              <a:rPr lang="en-GB" dirty="0"/>
              <a:t>weekly revenue</a:t>
            </a:r>
          </a:p>
          <a:p>
            <a:pPr lvl="1"/>
            <a:r>
              <a:rPr lang="en-GB" dirty="0"/>
              <a:t>average revenue per order</a:t>
            </a:r>
          </a:p>
          <a:p>
            <a:r>
              <a:rPr lang="en-GB" dirty="0"/>
              <a:t>A continuation study to quantify the success rate</a:t>
            </a:r>
          </a:p>
        </p:txBody>
      </p:sp>
    </p:spTree>
    <p:extLst>
      <p:ext uri="{BB962C8B-B14F-4D97-AF65-F5344CB8AC3E}">
        <p14:creationId xmlns:p14="http://schemas.microsoft.com/office/powerpoint/2010/main" val="325142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1338</Words>
  <Application>Microsoft Office PowerPoint</Application>
  <PresentationFormat>Widescreen</PresentationFormat>
  <Paragraphs>145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Analysis of Different Sales Methods for Pens and Printers</vt:lpstr>
      <vt:lpstr>Table of Contents</vt:lpstr>
      <vt:lpstr>What are we talking about?</vt:lpstr>
      <vt:lpstr>Objective</vt:lpstr>
      <vt:lpstr>How was the data processed?</vt:lpstr>
      <vt:lpstr>Data Cleaning</vt:lpstr>
      <vt:lpstr>Descriptive Analysis</vt:lpstr>
      <vt:lpstr>Overview of Sales Method</vt:lpstr>
      <vt:lpstr>Distribution of Revenue</vt:lpstr>
      <vt:lpstr>Distribution of Revenue, by Sales Strategy</vt:lpstr>
      <vt:lpstr>Time-Series Analysis</vt:lpstr>
      <vt:lpstr>Performance of Methods over time</vt:lpstr>
      <vt:lpstr>Conclusion</vt:lpstr>
      <vt:lpstr>Business Metric #1</vt:lpstr>
      <vt:lpstr>Business Metric #2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 Bacherikov</dc:creator>
  <cp:lastModifiedBy>Dmitri Bacherikov</cp:lastModifiedBy>
  <cp:revision>1</cp:revision>
  <dcterms:created xsi:type="dcterms:W3CDTF">2024-08-18T09:50:43Z</dcterms:created>
  <dcterms:modified xsi:type="dcterms:W3CDTF">2024-08-19T19:40:05Z</dcterms:modified>
</cp:coreProperties>
</file>